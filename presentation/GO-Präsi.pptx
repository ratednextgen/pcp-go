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72" r:id="rId6"/>
    <p:sldId id="262" r:id="rId7"/>
    <p:sldId id="274" r:id="rId8"/>
    <p:sldId id="275" r:id="rId9"/>
    <p:sldId id="273" r:id="rId10"/>
    <p:sldId id="276" r:id="rId11"/>
    <p:sldId id="266" r:id="rId12"/>
    <p:sldId id="277" r:id="rId13"/>
    <p:sldId id="263" r:id="rId14"/>
    <p:sldId id="260" r:id="rId15"/>
    <p:sldId id="264" r:id="rId16"/>
    <p:sldId id="265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0956" autoAdjust="0"/>
  </p:normalViewPr>
  <p:slideViewPr>
    <p:cSldViewPr snapToGrid="0" snapToObjects="1">
      <p:cViewPr varScale="1">
        <p:scale>
          <a:sx n="143" d="100"/>
          <a:sy n="143" d="100"/>
        </p:scale>
        <p:origin x="216" y="9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3EB228-2474-4D85-A9F1-A2C18EC2ACB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6035F41B-C1D9-48B7-BECE-AC82CF6E464F}">
      <dgm:prSet/>
      <dgm:spPr/>
      <dgm:t>
        <a:bodyPr/>
        <a:lstStyle/>
        <a:p>
          <a:r>
            <a:rPr lang="de-CH" dirty="0"/>
            <a:t>Fibonacci Berechnung</a:t>
          </a:r>
          <a:endParaRPr lang="en-US" dirty="0"/>
        </a:p>
      </dgm:t>
    </dgm:pt>
    <dgm:pt modelId="{28A2314F-D433-4244-B3A4-C2417134459A}" type="parTrans" cxnId="{D2DA5FB5-94EB-4EB9-8D1D-821DBC5D905C}">
      <dgm:prSet/>
      <dgm:spPr/>
      <dgm:t>
        <a:bodyPr/>
        <a:lstStyle/>
        <a:p>
          <a:endParaRPr lang="en-US"/>
        </a:p>
      </dgm:t>
    </dgm:pt>
    <dgm:pt modelId="{6D4B1DCD-FED3-4EC4-9ED8-FA6B1B8D2B2C}" type="sibTrans" cxnId="{D2DA5FB5-94EB-4EB9-8D1D-821DBC5D905C}">
      <dgm:prSet/>
      <dgm:spPr/>
      <dgm:t>
        <a:bodyPr/>
        <a:lstStyle/>
        <a:p>
          <a:endParaRPr lang="en-US"/>
        </a:p>
      </dgm:t>
    </dgm:pt>
    <dgm:pt modelId="{97A36E21-AA6A-4FAC-ADC7-525133752386}">
      <dgm:prSet/>
      <dgm:spPr/>
      <dgm:t>
        <a:bodyPr/>
        <a:lstStyle/>
        <a:p>
          <a:r>
            <a:rPr lang="de-CH"/>
            <a:t>SW9 – Exercise 3 (Parallel)</a:t>
          </a:r>
          <a:endParaRPr lang="en-US"/>
        </a:p>
      </dgm:t>
    </dgm:pt>
    <dgm:pt modelId="{76B8069C-1162-402D-A2E0-CE9267500535}" type="parTrans" cxnId="{877FDB23-9410-4BD7-8581-8E96F88715F5}">
      <dgm:prSet/>
      <dgm:spPr/>
      <dgm:t>
        <a:bodyPr/>
        <a:lstStyle/>
        <a:p>
          <a:endParaRPr lang="en-US"/>
        </a:p>
      </dgm:t>
    </dgm:pt>
    <dgm:pt modelId="{8D5DE2A2-A58F-48BB-803C-AF4D63F4C134}" type="sibTrans" cxnId="{877FDB23-9410-4BD7-8581-8E96F88715F5}">
      <dgm:prSet/>
      <dgm:spPr/>
      <dgm:t>
        <a:bodyPr/>
        <a:lstStyle/>
        <a:p>
          <a:endParaRPr lang="en-US"/>
        </a:p>
      </dgm:t>
    </dgm:pt>
    <dgm:pt modelId="{EDB45AFD-6D51-46E1-9941-995569820DEF}">
      <dgm:prSet/>
      <dgm:spPr/>
      <dgm:t>
        <a:bodyPr/>
        <a:lstStyle/>
        <a:p>
          <a:r>
            <a:rPr lang="de-CH" dirty="0"/>
            <a:t>Sonst noch etwas </a:t>
          </a:r>
          <a:r>
            <a:rPr lang="de-CH" b="1" dirty="0"/>
            <a:t>//TODO</a:t>
          </a:r>
          <a:endParaRPr lang="en-US" dirty="0"/>
        </a:p>
      </dgm:t>
    </dgm:pt>
    <dgm:pt modelId="{62ADC818-F60A-4F14-979F-D2ED1BA42D5D}" type="parTrans" cxnId="{58240A9B-72CF-4021-B357-70055012C68E}">
      <dgm:prSet/>
      <dgm:spPr/>
      <dgm:t>
        <a:bodyPr/>
        <a:lstStyle/>
        <a:p>
          <a:endParaRPr lang="en-US"/>
        </a:p>
      </dgm:t>
    </dgm:pt>
    <dgm:pt modelId="{86C3F4E4-D4A6-4A70-8529-D7319EF9FBCC}" type="sibTrans" cxnId="{58240A9B-72CF-4021-B357-70055012C68E}">
      <dgm:prSet/>
      <dgm:spPr/>
      <dgm:t>
        <a:bodyPr/>
        <a:lstStyle/>
        <a:p>
          <a:endParaRPr lang="en-US"/>
        </a:p>
      </dgm:t>
    </dgm:pt>
    <dgm:pt modelId="{8EA01BBE-E6F0-4B81-99C4-937F7474D249}" type="pres">
      <dgm:prSet presAssocID="{FE3EB228-2474-4D85-A9F1-A2C18EC2ACB9}" presName="root" presStyleCnt="0">
        <dgm:presLayoutVars>
          <dgm:dir/>
          <dgm:resizeHandles val="exact"/>
        </dgm:presLayoutVars>
      </dgm:prSet>
      <dgm:spPr/>
    </dgm:pt>
    <dgm:pt modelId="{C1570DC9-4843-44E1-ACB6-7B38C551B4A1}" type="pres">
      <dgm:prSet presAssocID="{6035F41B-C1D9-48B7-BECE-AC82CF6E464F}" presName="compNode" presStyleCnt="0"/>
      <dgm:spPr/>
    </dgm:pt>
    <dgm:pt modelId="{298F29D7-4D5E-4EA2-BC6C-FBB4FD3A14C3}" type="pres">
      <dgm:prSet presAssocID="{6035F41B-C1D9-48B7-BECE-AC82CF6E464F}" presName="bgRect" presStyleLbl="bgShp" presStyleIdx="0" presStyleCnt="3"/>
      <dgm:spPr/>
    </dgm:pt>
    <dgm:pt modelId="{B9BA8EFC-B2BC-48B4-8E8D-E462A1DAAB71}" type="pres">
      <dgm:prSet presAssocID="{6035F41B-C1D9-48B7-BECE-AC82CF6E464F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schenrechner"/>
        </a:ext>
      </dgm:extLst>
    </dgm:pt>
    <dgm:pt modelId="{DE953911-75ED-4138-9A7F-B08E9D3EE4D7}" type="pres">
      <dgm:prSet presAssocID="{6035F41B-C1D9-48B7-BECE-AC82CF6E464F}" presName="spaceRect" presStyleCnt="0"/>
      <dgm:spPr/>
    </dgm:pt>
    <dgm:pt modelId="{B99EDC2E-815B-4330-A8EA-D0D84AFB68B2}" type="pres">
      <dgm:prSet presAssocID="{6035F41B-C1D9-48B7-BECE-AC82CF6E464F}" presName="parTx" presStyleLbl="revTx" presStyleIdx="0" presStyleCnt="3">
        <dgm:presLayoutVars>
          <dgm:chMax val="0"/>
          <dgm:chPref val="0"/>
        </dgm:presLayoutVars>
      </dgm:prSet>
      <dgm:spPr/>
    </dgm:pt>
    <dgm:pt modelId="{B62C3ABC-21FC-4C3F-89D8-D122BD4AC8D9}" type="pres">
      <dgm:prSet presAssocID="{6D4B1DCD-FED3-4EC4-9ED8-FA6B1B8D2B2C}" presName="sibTrans" presStyleCnt="0"/>
      <dgm:spPr/>
    </dgm:pt>
    <dgm:pt modelId="{ECF7FD08-16B1-4EC7-9B71-896D9F82B0FD}" type="pres">
      <dgm:prSet presAssocID="{97A36E21-AA6A-4FAC-ADC7-525133752386}" presName="compNode" presStyleCnt="0"/>
      <dgm:spPr/>
    </dgm:pt>
    <dgm:pt modelId="{BAE22849-C14C-4BF0-A272-0E4A3F44198C}" type="pres">
      <dgm:prSet presAssocID="{97A36E21-AA6A-4FAC-ADC7-525133752386}" presName="bgRect" presStyleLbl="bgShp" presStyleIdx="1" presStyleCnt="3"/>
      <dgm:spPr/>
    </dgm:pt>
    <dgm:pt modelId="{0111EFEA-FFE1-440E-AC5E-0A8CCB1E54E9}" type="pres">
      <dgm:prSet presAssocID="{97A36E21-AA6A-4FAC-ADC7-525133752386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F85957E6-487D-4706-BD93-8F058E777744}" type="pres">
      <dgm:prSet presAssocID="{97A36E21-AA6A-4FAC-ADC7-525133752386}" presName="spaceRect" presStyleCnt="0"/>
      <dgm:spPr/>
    </dgm:pt>
    <dgm:pt modelId="{690D9A45-18AB-4D41-AF2B-38A00240C8D4}" type="pres">
      <dgm:prSet presAssocID="{97A36E21-AA6A-4FAC-ADC7-525133752386}" presName="parTx" presStyleLbl="revTx" presStyleIdx="1" presStyleCnt="3">
        <dgm:presLayoutVars>
          <dgm:chMax val="0"/>
          <dgm:chPref val="0"/>
        </dgm:presLayoutVars>
      </dgm:prSet>
      <dgm:spPr/>
    </dgm:pt>
    <dgm:pt modelId="{EFAE3344-F626-4B28-BF27-B7AD598FD666}" type="pres">
      <dgm:prSet presAssocID="{8D5DE2A2-A58F-48BB-803C-AF4D63F4C134}" presName="sibTrans" presStyleCnt="0"/>
      <dgm:spPr/>
    </dgm:pt>
    <dgm:pt modelId="{C4A6DF7D-EBD4-4A02-A7F9-6F80E2D6B350}" type="pres">
      <dgm:prSet presAssocID="{EDB45AFD-6D51-46E1-9941-995569820DEF}" presName="compNode" presStyleCnt="0"/>
      <dgm:spPr/>
    </dgm:pt>
    <dgm:pt modelId="{DAB0A9D0-33BF-419D-BB02-222731A8961F}" type="pres">
      <dgm:prSet presAssocID="{EDB45AFD-6D51-46E1-9941-995569820DEF}" presName="bgRect" presStyleLbl="bgShp" presStyleIdx="2" presStyleCnt="3"/>
      <dgm:spPr/>
    </dgm:pt>
    <dgm:pt modelId="{2C44DD38-8C26-45CF-98FF-2EDDCE077D21}" type="pres">
      <dgm:prSet presAssocID="{EDB45AFD-6D51-46E1-9941-995569820DE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086C131D-B35A-4FD2-8F53-920C3BE14FFA}" type="pres">
      <dgm:prSet presAssocID="{EDB45AFD-6D51-46E1-9941-995569820DEF}" presName="spaceRect" presStyleCnt="0"/>
      <dgm:spPr/>
    </dgm:pt>
    <dgm:pt modelId="{DD78C368-68A7-48BC-B251-5E105939D34D}" type="pres">
      <dgm:prSet presAssocID="{EDB45AFD-6D51-46E1-9941-995569820DE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77FDB23-9410-4BD7-8581-8E96F88715F5}" srcId="{FE3EB228-2474-4D85-A9F1-A2C18EC2ACB9}" destId="{97A36E21-AA6A-4FAC-ADC7-525133752386}" srcOrd="1" destOrd="0" parTransId="{76B8069C-1162-402D-A2E0-CE9267500535}" sibTransId="{8D5DE2A2-A58F-48BB-803C-AF4D63F4C134}"/>
    <dgm:cxn modelId="{AC5BF556-19AB-4E0F-83FC-C7EE6528D364}" type="presOf" srcId="{EDB45AFD-6D51-46E1-9941-995569820DEF}" destId="{DD78C368-68A7-48BC-B251-5E105939D34D}" srcOrd="0" destOrd="0" presId="urn:microsoft.com/office/officeart/2018/2/layout/IconVerticalSolidList"/>
    <dgm:cxn modelId="{7C980B57-12CC-42D1-A5F5-1D7F02A06F6A}" type="presOf" srcId="{97A36E21-AA6A-4FAC-ADC7-525133752386}" destId="{690D9A45-18AB-4D41-AF2B-38A00240C8D4}" srcOrd="0" destOrd="0" presId="urn:microsoft.com/office/officeart/2018/2/layout/IconVerticalSolidList"/>
    <dgm:cxn modelId="{36651693-C98A-4518-8BC2-4CC39741FB62}" type="presOf" srcId="{FE3EB228-2474-4D85-A9F1-A2C18EC2ACB9}" destId="{8EA01BBE-E6F0-4B81-99C4-937F7474D249}" srcOrd="0" destOrd="0" presId="urn:microsoft.com/office/officeart/2018/2/layout/IconVerticalSolidList"/>
    <dgm:cxn modelId="{58240A9B-72CF-4021-B357-70055012C68E}" srcId="{FE3EB228-2474-4D85-A9F1-A2C18EC2ACB9}" destId="{EDB45AFD-6D51-46E1-9941-995569820DEF}" srcOrd="2" destOrd="0" parTransId="{62ADC818-F60A-4F14-979F-D2ED1BA42D5D}" sibTransId="{86C3F4E4-D4A6-4A70-8529-D7319EF9FBCC}"/>
    <dgm:cxn modelId="{F1EDA7A1-66AC-4EAB-B099-6BE4B8A00A12}" type="presOf" srcId="{6035F41B-C1D9-48B7-BECE-AC82CF6E464F}" destId="{B99EDC2E-815B-4330-A8EA-D0D84AFB68B2}" srcOrd="0" destOrd="0" presId="urn:microsoft.com/office/officeart/2018/2/layout/IconVerticalSolidList"/>
    <dgm:cxn modelId="{D2DA5FB5-94EB-4EB9-8D1D-821DBC5D905C}" srcId="{FE3EB228-2474-4D85-A9F1-A2C18EC2ACB9}" destId="{6035F41B-C1D9-48B7-BECE-AC82CF6E464F}" srcOrd="0" destOrd="0" parTransId="{28A2314F-D433-4244-B3A4-C2417134459A}" sibTransId="{6D4B1DCD-FED3-4EC4-9ED8-FA6B1B8D2B2C}"/>
    <dgm:cxn modelId="{0F447EB6-29F9-4BB6-8385-94167FAD9FB9}" type="presParOf" srcId="{8EA01BBE-E6F0-4B81-99C4-937F7474D249}" destId="{C1570DC9-4843-44E1-ACB6-7B38C551B4A1}" srcOrd="0" destOrd="0" presId="urn:microsoft.com/office/officeart/2018/2/layout/IconVerticalSolidList"/>
    <dgm:cxn modelId="{2007BCD8-C07B-4473-B2A5-6815FE9E2819}" type="presParOf" srcId="{C1570DC9-4843-44E1-ACB6-7B38C551B4A1}" destId="{298F29D7-4D5E-4EA2-BC6C-FBB4FD3A14C3}" srcOrd="0" destOrd="0" presId="urn:microsoft.com/office/officeart/2018/2/layout/IconVerticalSolidList"/>
    <dgm:cxn modelId="{F185D001-DDCB-472D-9255-C7D3E5E3149B}" type="presParOf" srcId="{C1570DC9-4843-44E1-ACB6-7B38C551B4A1}" destId="{B9BA8EFC-B2BC-48B4-8E8D-E462A1DAAB71}" srcOrd="1" destOrd="0" presId="urn:microsoft.com/office/officeart/2018/2/layout/IconVerticalSolidList"/>
    <dgm:cxn modelId="{753496DE-3D60-4DB9-8EF5-CF0BDF0D6041}" type="presParOf" srcId="{C1570DC9-4843-44E1-ACB6-7B38C551B4A1}" destId="{DE953911-75ED-4138-9A7F-B08E9D3EE4D7}" srcOrd="2" destOrd="0" presId="urn:microsoft.com/office/officeart/2018/2/layout/IconVerticalSolidList"/>
    <dgm:cxn modelId="{6F345FBE-3FC4-4DD6-B09D-AC88245F8317}" type="presParOf" srcId="{C1570DC9-4843-44E1-ACB6-7B38C551B4A1}" destId="{B99EDC2E-815B-4330-A8EA-D0D84AFB68B2}" srcOrd="3" destOrd="0" presId="urn:microsoft.com/office/officeart/2018/2/layout/IconVerticalSolidList"/>
    <dgm:cxn modelId="{FBA6105D-C2DB-481A-B45F-ACCDE990B620}" type="presParOf" srcId="{8EA01BBE-E6F0-4B81-99C4-937F7474D249}" destId="{B62C3ABC-21FC-4C3F-89D8-D122BD4AC8D9}" srcOrd="1" destOrd="0" presId="urn:microsoft.com/office/officeart/2018/2/layout/IconVerticalSolidList"/>
    <dgm:cxn modelId="{39B50E93-921B-4D95-A7BD-6B3FA6841E04}" type="presParOf" srcId="{8EA01BBE-E6F0-4B81-99C4-937F7474D249}" destId="{ECF7FD08-16B1-4EC7-9B71-896D9F82B0FD}" srcOrd="2" destOrd="0" presId="urn:microsoft.com/office/officeart/2018/2/layout/IconVerticalSolidList"/>
    <dgm:cxn modelId="{062DBC16-0772-411F-AA5D-17116D4A847D}" type="presParOf" srcId="{ECF7FD08-16B1-4EC7-9B71-896D9F82B0FD}" destId="{BAE22849-C14C-4BF0-A272-0E4A3F44198C}" srcOrd="0" destOrd="0" presId="urn:microsoft.com/office/officeart/2018/2/layout/IconVerticalSolidList"/>
    <dgm:cxn modelId="{87059F12-A029-4672-BB68-9F74653CCD4D}" type="presParOf" srcId="{ECF7FD08-16B1-4EC7-9B71-896D9F82B0FD}" destId="{0111EFEA-FFE1-440E-AC5E-0A8CCB1E54E9}" srcOrd="1" destOrd="0" presId="urn:microsoft.com/office/officeart/2018/2/layout/IconVerticalSolidList"/>
    <dgm:cxn modelId="{1D5903DA-A422-409F-9EEB-7A1ABB882DDF}" type="presParOf" srcId="{ECF7FD08-16B1-4EC7-9B71-896D9F82B0FD}" destId="{F85957E6-487D-4706-BD93-8F058E777744}" srcOrd="2" destOrd="0" presId="urn:microsoft.com/office/officeart/2018/2/layout/IconVerticalSolidList"/>
    <dgm:cxn modelId="{828237C7-559E-4975-A5FC-55D73E2D6729}" type="presParOf" srcId="{ECF7FD08-16B1-4EC7-9B71-896D9F82B0FD}" destId="{690D9A45-18AB-4D41-AF2B-38A00240C8D4}" srcOrd="3" destOrd="0" presId="urn:microsoft.com/office/officeart/2018/2/layout/IconVerticalSolidList"/>
    <dgm:cxn modelId="{54DF0D36-0F3D-46BC-9050-BDC25932E496}" type="presParOf" srcId="{8EA01BBE-E6F0-4B81-99C4-937F7474D249}" destId="{EFAE3344-F626-4B28-BF27-B7AD598FD666}" srcOrd="3" destOrd="0" presId="urn:microsoft.com/office/officeart/2018/2/layout/IconVerticalSolidList"/>
    <dgm:cxn modelId="{B831FADB-E5D7-4401-A569-FD85E29976EF}" type="presParOf" srcId="{8EA01BBE-E6F0-4B81-99C4-937F7474D249}" destId="{C4A6DF7D-EBD4-4A02-A7F9-6F80E2D6B350}" srcOrd="4" destOrd="0" presId="urn:microsoft.com/office/officeart/2018/2/layout/IconVerticalSolidList"/>
    <dgm:cxn modelId="{E5C06FD9-D2CF-4CA7-847B-F8E81E47C8EC}" type="presParOf" srcId="{C4A6DF7D-EBD4-4A02-A7F9-6F80E2D6B350}" destId="{DAB0A9D0-33BF-419D-BB02-222731A8961F}" srcOrd="0" destOrd="0" presId="urn:microsoft.com/office/officeart/2018/2/layout/IconVerticalSolidList"/>
    <dgm:cxn modelId="{29BF4992-A077-469D-B285-1F4F9146D9B9}" type="presParOf" srcId="{C4A6DF7D-EBD4-4A02-A7F9-6F80E2D6B350}" destId="{2C44DD38-8C26-45CF-98FF-2EDDCE077D21}" srcOrd="1" destOrd="0" presId="urn:microsoft.com/office/officeart/2018/2/layout/IconVerticalSolidList"/>
    <dgm:cxn modelId="{847EF024-7CAA-4BE3-AEC9-25974FCF3A02}" type="presParOf" srcId="{C4A6DF7D-EBD4-4A02-A7F9-6F80E2D6B350}" destId="{086C131D-B35A-4FD2-8F53-920C3BE14FFA}" srcOrd="2" destOrd="0" presId="urn:microsoft.com/office/officeart/2018/2/layout/IconVerticalSolidList"/>
    <dgm:cxn modelId="{8AA25294-DD48-4905-A52D-05CBB75B11B1}" type="presParOf" srcId="{C4A6DF7D-EBD4-4A02-A7F9-6F80E2D6B350}" destId="{DD78C368-68A7-48BC-B251-5E105939D34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8F29D7-4D5E-4EA2-BC6C-FBB4FD3A14C3}">
      <dsp:nvSpPr>
        <dsp:cNvPr id="0" name=""/>
        <dsp:cNvSpPr/>
      </dsp:nvSpPr>
      <dsp:spPr>
        <a:xfrm>
          <a:off x="0" y="682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BA8EFC-B2BC-48B4-8E8D-E462A1DAAB71}">
      <dsp:nvSpPr>
        <dsp:cNvPr id="0" name=""/>
        <dsp:cNvSpPr/>
      </dsp:nvSpPr>
      <dsp:spPr>
        <a:xfrm>
          <a:off x="482961" y="359909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9EDC2E-815B-4330-A8EA-D0D84AFB68B2}">
      <dsp:nvSpPr>
        <dsp:cNvPr id="0" name=""/>
        <dsp:cNvSpPr/>
      </dsp:nvSpPr>
      <dsp:spPr>
        <a:xfrm>
          <a:off x="1844034" y="682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 dirty="0"/>
            <a:t>Fibonacci Berechnung</a:t>
          </a:r>
          <a:endParaRPr lang="en-US" sz="2500" kern="1200" dirty="0"/>
        </a:p>
      </dsp:txBody>
      <dsp:txXfrm>
        <a:off x="1844034" y="682"/>
        <a:ext cx="2839914" cy="1596566"/>
      </dsp:txXfrm>
    </dsp:sp>
    <dsp:sp modelId="{BAE22849-C14C-4BF0-A272-0E4A3F44198C}">
      <dsp:nvSpPr>
        <dsp:cNvPr id="0" name=""/>
        <dsp:cNvSpPr/>
      </dsp:nvSpPr>
      <dsp:spPr>
        <a:xfrm>
          <a:off x="0" y="1996390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11EFEA-FFE1-440E-AC5E-0A8CCB1E54E9}">
      <dsp:nvSpPr>
        <dsp:cNvPr id="0" name=""/>
        <dsp:cNvSpPr/>
      </dsp:nvSpPr>
      <dsp:spPr>
        <a:xfrm>
          <a:off x="482961" y="2355617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0D9A45-18AB-4D41-AF2B-38A00240C8D4}">
      <dsp:nvSpPr>
        <dsp:cNvPr id="0" name=""/>
        <dsp:cNvSpPr/>
      </dsp:nvSpPr>
      <dsp:spPr>
        <a:xfrm>
          <a:off x="1844034" y="1996390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SW9 – Exercise 3 (Parallel)</a:t>
          </a:r>
          <a:endParaRPr lang="en-US" sz="2500" kern="1200"/>
        </a:p>
      </dsp:txBody>
      <dsp:txXfrm>
        <a:off x="1844034" y="1996390"/>
        <a:ext cx="2839914" cy="1596566"/>
      </dsp:txXfrm>
    </dsp:sp>
    <dsp:sp modelId="{DAB0A9D0-33BF-419D-BB02-222731A8961F}">
      <dsp:nvSpPr>
        <dsp:cNvPr id="0" name=""/>
        <dsp:cNvSpPr/>
      </dsp:nvSpPr>
      <dsp:spPr>
        <a:xfrm>
          <a:off x="0" y="3992098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44DD38-8C26-45CF-98FF-2EDDCE077D21}">
      <dsp:nvSpPr>
        <dsp:cNvPr id="0" name=""/>
        <dsp:cNvSpPr/>
      </dsp:nvSpPr>
      <dsp:spPr>
        <a:xfrm>
          <a:off x="482961" y="4351325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78C368-68A7-48BC-B251-5E105939D34D}">
      <dsp:nvSpPr>
        <dsp:cNvPr id="0" name=""/>
        <dsp:cNvSpPr/>
      </dsp:nvSpPr>
      <dsp:spPr>
        <a:xfrm>
          <a:off x="1844034" y="3992098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 dirty="0"/>
            <a:t>Sonst noch etwas </a:t>
          </a:r>
          <a:r>
            <a:rPr lang="de-CH" sz="2500" b="1" kern="1200" dirty="0"/>
            <a:t>//TODO</a:t>
          </a:r>
          <a:endParaRPr lang="en-US" sz="2500" kern="1200" dirty="0"/>
        </a:p>
      </dsp:txBody>
      <dsp:txXfrm>
        <a:off x="1844034" y="3992098"/>
        <a:ext cx="2839914" cy="15965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EF2C90-E8EE-43CD-8D96-4E8A72565517}" type="datetimeFigureOut">
              <a:rPr lang="de-CH" smtClean="0"/>
              <a:t>17.05.26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945742-DB6B-4CE6-B846-92E01489719F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40709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de-CH" b="1" dirty="0"/>
              <a:t>Einfachheit über alles</a:t>
            </a:r>
          </a:p>
          <a:p>
            <a:pPr marL="0" indent="0">
              <a:buNone/>
            </a:pPr>
            <a:r>
              <a:rPr lang="de-CH" dirty="0"/>
              <a:t>Go vermeidet bewusst viele Features: 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Keine komplizierte Vererbung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Kein «Magie»-Code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Sehr klare Syntax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Ziel: Code, den jeder im Team schnell versteht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2. Schnelligkeit (Entwicklung + Ausführung)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Kompiliert extrem schnell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Läuft fast so schnell wie C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Ideal für grosse Projekte mit vielen </a:t>
            </a:r>
            <a:r>
              <a:rPr lang="de-CH" dirty="0" err="1">
                <a:sym typeface="Wingdings" panose="05000000000000000000" pitchFamily="2" charset="2"/>
              </a:rPr>
              <a:t>Builds</a:t>
            </a:r>
            <a:endParaRPr lang="de-CH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3. Eingebaute Nebenläufigkeit (</a:t>
            </a:r>
            <a:r>
              <a:rPr lang="de-CH" b="1" dirty="0" err="1">
                <a:sym typeface="Wingdings" panose="05000000000000000000" pitchFamily="2" charset="2"/>
              </a:rPr>
              <a:t>Concurrency</a:t>
            </a:r>
            <a:r>
              <a:rPr lang="de-CH" b="1" dirty="0">
                <a:sym typeface="Wingdings" panose="05000000000000000000" pitchFamily="2" charset="2"/>
              </a:rPr>
              <a:t>)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Das ist ein zentraler Punkt: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 err="1">
                <a:sym typeface="Wingdings" panose="05000000000000000000" pitchFamily="2" charset="2"/>
              </a:rPr>
              <a:t>Goroutines</a:t>
            </a:r>
            <a:r>
              <a:rPr lang="de-CH" dirty="0">
                <a:sym typeface="Wingdings" panose="05000000000000000000" pitchFamily="2" charset="2"/>
              </a:rPr>
              <a:t> (leichte Threads)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Channels zur Kommunikation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Vision: Nebenläufige Programme sollen einfach sein, nicht kompliziert wie in vielen anderen Sprachen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4. Starke Standardbibliothek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Go bringt vieles direkt mit: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HTTP-Server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JSON-Verarbeitung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Networking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Somit weniger externe Abhängigkeiten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5. Klare Struktur für Teams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Go zwingt dich zu einem gewissen Stil: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«</a:t>
            </a:r>
            <a:r>
              <a:rPr lang="de-CH" dirty="0" err="1">
                <a:sym typeface="Wingdings" panose="05000000000000000000" pitchFamily="2" charset="2"/>
              </a:rPr>
              <a:t>gofmt</a:t>
            </a:r>
            <a:r>
              <a:rPr lang="de-CH" dirty="0">
                <a:sym typeface="Wingdings" panose="05000000000000000000" pitchFamily="2" charset="2"/>
              </a:rPr>
              <a:t>» formatiert Code automatisch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Wenig Interpretationsspielraum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Grosse Teams können konsistent arbeiten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945742-DB6B-4CE6-B846-92E01489719F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9886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945742-DB6B-4CE6-B846-92E01489719F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95908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835357" y="2960716"/>
            <a:ext cx="3027251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7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GOLANG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5356" y="953037"/>
            <a:ext cx="3027250" cy="17098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Nevilan</a:t>
            </a:r>
            <a:r>
              <a:rPr lang="en-US" sz="17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Sabanathan</a:t>
            </a:r>
            <a:br>
              <a:rPr lang="en-US" sz="1700" dirty="0"/>
            </a:br>
            <a:r>
              <a:rPr lang="en-US" sz="1700" dirty="0"/>
              <a:t>Bleron Hajdini</a:t>
            </a:r>
            <a:endParaRPr lang="en-US" sz="17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2984992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038" name="Rectangle 1037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9" name="Rectangle 1038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0" name="Rectangle 103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64357" y="391886"/>
            <a:ext cx="4507025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Why should you use Golang programming language">
            <a:extLst>
              <a:ext uri="{FF2B5EF4-FFF2-40B4-BE49-F238E27FC236}">
                <a16:creationId xmlns:a16="http://schemas.microsoft.com/office/drawing/2014/main" id="{53FFDC97-DA7D-4ED4-6DF0-8D5BF7CFC7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441869" y="2081879"/>
            <a:ext cx="4152000" cy="2635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8" name="Rectangle 206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10A1EB6-AD89-4B38-B328-726CF9C21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798" y="1463040"/>
            <a:ext cx="2847230" cy="2690949"/>
          </a:xfrm>
        </p:spPr>
        <p:txBody>
          <a:bodyPr anchor="t">
            <a:normAutofit/>
          </a:bodyPr>
          <a:lstStyle/>
          <a:p>
            <a:r>
              <a:rPr lang="de-CH" sz="4200"/>
              <a:t>Vision</a:t>
            </a:r>
          </a:p>
        </p:txBody>
      </p:sp>
      <p:grpSp>
        <p:nvGrpSpPr>
          <p:cNvPr id="2070" name="Group 206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2071" name="Rectangle 207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72" name="Straight Connector 207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4" name="Rectangle 207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EDAB6A7-60DE-D475-B6EF-B1A6D3934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2163" y="1463039"/>
            <a:ext cx="4245132" cy="4300447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de-CH" sz="1900" b="1" dirty="0"/>
              <a:t>Kernidee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Grosse Systeme bei Google wurden immer komplexer, </a:t>
            </a:r>
            <a:r>
              <a:rPr lang="de-CH" sz="1900" dirty="0" err="1"/>
              <a:t>Builds</a:t>
            </a:r>
            <a:r>
              <a:rPr lang="de-CH" sz="1900" dirty="0"/>
              <a:t> dauerten lange und viele Sprachen waren zu kompliziert oder zu ineffizient </a:t>
            </a:r>
            <a:r>
              <a:rPr lang="de-CH" sz="1900" dirty="0">
                <a:sym typeface="Wingdings" panose="05000000000000000000" pitchFamily="2" charset="2"/>
              </a:rPr>
              <a:t> </a:t>
            </a:r>
            <a:r>
              <a:rPr lang="de-CH" sz="1900" b="1" dirty="0">
                <a:sym typeface="Wingdings" panose="05000000000000000000" pitchFamily="2" charset="2"/>
              </a:rPr>
              <a:t>Go sollte die Mitte treffen</a:t>
            </a:r>
            <a:endParaRPr lang="de-CH" sz="1900" dirty="0"/>
          </a:p>
          <a:p>
            <a:pPr marL="0" indent="0">
              <a:buNone/>
            </a:pPr>
            <a:r>
              <a:rPr lang="de-CH" sz="1900" b="1" dirty="0"/>
              <a:t>Die wichtigsten Prinzipien der Go-Vision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Einfachheit über alles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Schnelligkeit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Eingebaute Nebenläufigkeit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Starke Standardbibliothek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E5CF7752-C6D5-F45E-36E9-7DBD67F25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867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F82B8-418D-AF06-ECF6-0C070EA0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EDA5217-3E4D-1B88-4D98-8F784C13B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1421C7B-4D8C-8526-E76E-05DE27635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Geschichte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05B1C7C-E98B-8527-BCC4-FB096970F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837EB17-8E4C-6CF8-3631-E35B16AF52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ABD4860-84C8-9F94-FB8A-38D3948DCF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4BDB2A1-2BE6-5560-E4FF-12D5E25DC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AB4703-317D-A425-627C-810482B51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b="1" dirty="0"/>
              <a:t>Erscheinungsjahr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2009, erste stabile Version 2012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Entwickler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Robert Griesemer, Rob Pike, Ken Thompson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Beeinflusst von </a:t>
            </a:r>
            <a:r>
              <a:rPr lang="de-CH" sz="2100" dirty="0">
                <a:sym typeface="Wingdings" panose="05000000000000000000" pitchFamily="2" charset="2"/>
              </a:rPr>
              <a:t> C, </a:t>
            </a:r>
            <a:r>
              <a:rPr lang="de-CH" sz="2100" dirty="0" err="1">
                <a:sym typeface="Wingdings" panose="05000000000000000000" pitchFamily="2" charset="2"/>
              </a:rPr>
              <a:t>Newsqueak</a:t>
            </a:r>
            <a:r>
              <a:rPr lang="de-CH" sz="2100" dirty="0">
                <a:sym typeface="Wingdings" panose="05000000000000000000" pitchFamily="2" charset="2"/>
              </a:rPr>
              <a:t>, Alef, Limbo, Oberon</a:t>
            </a:r>
          </a:p>
          <a:p>
            <a:pPr marL="0" indent="0">
              <a:buNone/>
            </a:pPr>
            <a:r>
              <a:rPr lang="de-CH" sz="2100" b="1" dirty="0">
                <a:sym typeface="Wingdings" panose="05000000000000000000" pitchFamily="2" charset="2"/>
              </a:rPr>
              <a:t>Aktuelle Version </a:t>
            </a:r>
            <a:r>
              <a:rPr lang="de-CH" sz="2100" dirty="0">
                <a:sym typeface="Wingdings" panose="05000000000000000000" pitchFamily="2" charset="2"/>
              </a:rPr>
              <a:t> 1.26.2 (7. April 2026) </a:t>
            </a:r>
            <a:r>
              <a:rPr lang="de-CH" sz="2100" dirty="0">
                <a:solidFill>
                  <a:srgbClr val="FF0000"/>
                </a:solidFill>
                <a:sym typeface="Wingdings" panose="05000000000000000000" pitchFamily="2" charset="2"/>
              </a:rPr>
              <a:t>//TODO nochmals überprüfen</a:t>
            </a:r>
            <a:endParaRPr lang="de-CH" sz="2100" dirty="0">
              <a:solidFill>
                <a:srgbClr val="FF0000"/>
              </a:solidFill>
            </a:endParaRP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537D648-B8F6-E59D-CD25-24045703C5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2097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DB1295-ADE9-0D55-06E3-C6BDAD5E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16A8DB24-6FA2-57FE-CEF7-505C91050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4D1F6AE-F6AD-D48A-323C-9FC73C3F2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Verbreitung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6E15ACA6-371C-EE42-616F-307A814A3E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169784C-1FFF-6FE7-FFDD-968061F86F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821334F-E8A6-FF57-8AF7-E022A2504D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2889D80-D0F1-AC5A-8913-4AE6C2C06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A63243-4A19-9AC6-841D-C31309D74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92EEC75-2EFA-E37D-0EAB-11671E827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2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FF49C7-044B-4325-B149-D8FFB22C8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D7E04227-2EA1-17D7-48E3-EB08C2A949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EF691E-7601-7B3D-DE6D-69771A40F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/>
              <a:t>Generelle Informationen über GO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A88AB482-A563-54DE-A864-4F37FC978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471116CF-D4D7-3A2A-0790-875C7C6AF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73D23E8E-AD90-CF43-001D-66F7A31237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28BE3988-8893-96B4-F410-07CB72484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E3B4D2-4E3C-8ABE-9FC6-D6F559C60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b="1" dirty="0"/>
              <a:t>Paradigmen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Nebenläufig, imperativ, strukturiert, modular, objektorientiert, generisch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Typisierung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stark, statisch</a:t>
            </a:r>
            <a:endParaRPr lang="de-CH" sz="2100" dirty="0"/>
          </a:p>
          <a:p>
            <a:pPr marL="0" indent="0">
              <a:buNone/>
            </a:pPr>
            <a:r>
              <a:rPr lang="de-CH" sz="2100" dirty="0"/>
              <a:t>Hat im vergleich zu anderen Sprachen, weniger Schlüsselwörter</a:t>
            </a:r>
          </a:p>
          <a:p>
            <a:pPr marL="0" indent="0">
              <a:buNone/>
            </a:pPr>
            <a:r>
              <a:rPr lang="de-CH" sz="2100" dirty="0"/>
              <a:t>GO besitzt einen eigenen </a:t>
            </a:r>
            <a:r>
              <a:rPr lang="de-CH" sz="2100" dirty="0" err="1"/>
              <a:t>Garbage</a:t>
            </a:r>
            <a:r>
              <a:rPr lang="de-CH" sz="2100" dirty="0"/>
              <a:t> </a:t>
            </a:r>
            <a:r>
              <a:rPr lang="de-CH" sz="2100" dirty="0" err="1"/>
              <a:t>Collector</a:t>
            </a:r>
            <a:endParaRPr lang="de-CH" sz="2100" dirty="0"/>
          </a:p>
          <a:p>
            <a:pPr marL="0" indent="0">
              <a:buNone/>
            </a:pPr>
            <a:r>
              <a:rPr lang="de-CH" sz="2100" dirty="0"/>
              <a:t>GO verwendet Zeige, verzichtet jedoch auf Zeigerarithmetik</a:t>
            </a:r>
          </a:p>
          <a:p>
            <a:pPr marL="0" indent="0">
              <a:buNone/>
            </a:pPr>
            <a:r>
              <a:rPr lang="de-CH" sz="2100" dirty="0"/>
              <a:t>GO ist eine kompilierte Sprache</a:t>
            </a:r>
          </a:p>
          <a:p>
            <a:pPr marL="0" indent="0">
              <a:buNone/>
            </a:pPr>
            <a:r>
              <a:rPr lang="de-CH" sz="2100" dirty="0"/>
              <a:t>GO-Syntax ist orientiert an C 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852A9056-E285-9A88-90CE-F25A783FE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8533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05C74-0309-E9FD-5BB5-9CD218AB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5DE42EF-F1ED-C755-0515-FB15CA5D2B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45F18AE-7B36-4E5A-4271-A153AACF3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97E5279D-C277-929F-BFEF-8B0BC352A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2E1A584-70EA-32E5-D99F-934E31B384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56FE89CA-9208-A58D-2B17-675FB124E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DCF0B119-896F-D73B-ED68-68D9713B9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519CC08-B738-BE4A-BAC9-1A02A44E0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dirty="0"/>
              <a:t>Merkmale und Eigenschaften: </a:t>
            </a:r>
            <a:r>
              <a:rPr lang="de-CH" sz="2100" dirty="0">
                <a:solidFill>
                  <a:srgbClr val="FF0000"/>
                </a:solidFill>
              </a:rPr>
              <a:t>//TODO</a:t>
            </a:r>
          </a:p>
          <a:p>
            <a:pPr marL="0" indent="0">
              <a:buNone/>
            </a:pP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870558DF-3A9C-0490-BF72-CC6E01F8A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5002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78D543-1B73-D639-FAA6-42714CB7B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9B502B7-FAC5-C183-885D-9E7277EA5D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85D4AD-4EB9-1927-E4E8-4DB9BDBC0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ECD0484A-5766-2252-A1E2-7CD41CA586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2CBDDB0A-4BC0-2A1A-5D10-08399940F6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BF185093-B2A6-0358-ECF8-334D403B37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E8CA0CC6-6A0D-55AE-C37D-6E8140065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E6DD077-AE13-4352-E0B1-56182DF630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CH" sz="2100" dirty="0"/>
          </a:p>
          <a:p>
            <a:pPr marL="0" indent="0">
              <a:buNone/>
            </a:pP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CD77FB0C-D2BF-9BCE-3643-633B077933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411320-3E89-3CDB-854E-E4BC5AE85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4" y="2276028"/>
            <a:ext cx="2933700" cy="1854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B39361-9FB8-9405-37B9-04ACE8A331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" y="4453709"/>
            <a:ext cx="7772400" cy="151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20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FE4694-D9CE-A364-83A6-D76FCB06F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0D2DB63F-D481-4678-5A91-C3661658E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6892B36-AF86-174C-D23E-B5E323304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1EDF3C6D-0600-A74E-7B01-96B3491F8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E9962B36-F7D3-7F68-6D32-86A6C3953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C4B7899-8BBA-6598-2861-A78EB70B0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6FB8E22F-506C-158A-01A5-A53E43EF92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579E59D-7F2D-FA25-B927-01F2EDD96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CH" sz="2100" dirty="0"/>
          </a:p>
          <a:p>
            <a:pPr marL="0" indent="0">
              <a:buNone/>
            </a:pP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93BDDE9-BFF5-812E-829A-712407642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3CDC37-967B-421D-220F-14A494098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4" y="2283625"/>
            <a:ext cx="7772400" cy="2386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1BDB24-D229-1715-913B-3A5D0447D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3" y="5032774"/>
            <a:ext cx="4216400" cy="12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35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0D3697-1D78-4CC0-4F13-584125284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5A373F65-2C02-EFA5-13AA-9A31C22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BDE69-E2DE-724F-472B-FD80F7617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Maps &amp; 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7D5C43B-983C-CD03-D581-AFD3991AC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84B53A0-F78A-B158-551A-317242B87B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D887804-3785-DB50-0179-D457655D4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2A809A91-C8A4-CF93-32BC-064223DC50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1EC2F82-2079-BEE9-A04D-EC18AE7FE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dirty="0"/>
              <a:t>Merkmale und Eigenschaften: </a:t>
            </a:r>
            <a:r>
              <a:rPr lang="de-CH" sz="2100" dirty="0">
                <a:solidFill>
                  <a:srgbClr val="FF0000"/>
                </a:solidFill>
              </a:rPr>
              <a:t>//TODO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2C12124C-3544-1E99-1B06-67D6E38CF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5206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22B429-924E-38BF-0BC7-8AB83FA47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402BCCD-8498-F895-FB49-3A6814D95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7AD8B81-93FE-CB35-DFBF-BA8F6C5E6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Maps &amp; 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DE216921-7EE9-EFE6-44AD-A3B756E86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3835E63B-DABD-FA75-AE20-E2F8F5392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3B6EA3F6-276C-754D-03DB-3A255433B2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2F5968E-22DD-92BC-BF02-61C6E2E95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124BCC5-BC45-8F4A-453A-D063416C41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103" y="2340989"/>
            <a:ext cx="7454900" cy="2438400"/>
          </a:xfrm>
          <a:prstGeom prst="rect">
            <a:avLst/>
          </a:prstGeom>
        </p:spPr>
      </p:pic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A49211B5-1149-9CBB-4972-43D7DB5A0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8505F5-DDE7-A0BA-C31D-E4A3E7D20C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03" y="5209556"/>
            <a:ext cx="5346700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786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522E0-8191-FC52-5CFD-F2A33A743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CE61B5A9-75F8-C90C-7750-AD98FA383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83C65F9-23E4-72A7-787D-29C977086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 err="1"/>
              <a:t>Defer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6087ACA-52D5-B423-2E52-30CA83D69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0ACB274-48E1-BDAD-C4BF-691212CFFB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B79B482B-1721-F56D-BAB4-794FC03E75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F7BE736-E1C7-1E7F-A041-228F6CC25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42A37F2-725F-EE4C-0349-7ACC77A14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dirty="0"/>
              <a:t>Merkmale und Eigenschaften: </a:t>
            </a:r>
            <a:r>
              <a:rPr lang="de-CH" sz="2100" dirty="0">
                <a:solidFill>
                  <a:srgbClr val="FF0000"/>
                </a:solidFill>
              </a:rPr>
              <a:t>//TODO</a:t>
            </a:r>
          </a:p>
          <a:p>
            <a:pPr marL="0" indent="0">
              <a:buNone/>
            </a:pP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3ACEFFB-55DA-C70D-7416-8C168851D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8387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735D0D-3500-92D8-9CA7-A390F046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149620E1-A17C-BEE6-87C6-9D9D48DB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E219417-E0B8-329D-FC97-A52B37EB9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 err="1"/>
              <a:t>Defer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A2F6E770-59D2-8336-021A-F8A4C5443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7B7A88A-1DE8-5590-FFED-368310B4AF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1ACC8FC-B501-831B-F3D3-1431E0A61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B6EF0438-00E3-F7FF-0E1F-7B41972B9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1E4153D-CC79-2D54-85ED-7456CE6A3A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031" y="2203079"/>
            <a:ext cx="4905674" cy="3094855"/>
          </a:xfrm>
          <a:prstGeom prst="rect">
            <a:avLst/>
          </a:prstGeom>
        </p:spPr>
      </p:pic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6A3920E8-3C61-EEED-1E8C-7B41D6241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4025F1-8E4C-480F-7ECF-06BF90FCA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7736" y="3574725"/>
            <a:ext cx="3652591" cy="1604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989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083E05-8DA5-F060-89D7-20656CB60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E68462F-040C-2519-41D1-B8764D7DF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0BAE5CC-D4E8-DBEC-F3E7-E04078AA7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 err="1"/>
              <a:t>Structural</a:t>
            </a:r>
            <a:r>
              <a:rPr lang="de-CH" sz="4700" dirty="0"/>
              <a:t> &amp; Nominal </a:t>
            </a:r>
            <a:r>
              <a:rPr lang="de-CH" sz="4700" dirty="0" err="1"/>
              <a:t>Typing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98ACF4CF-7998-811A-227C-5EBE8C223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BD93F3F9-CED9-38C3-8F87-1ED11BB186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6532D027-F793-7D84-6972-C66370342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98419B50-645B-3496-56B6-147C308C1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0B92D9D-B315-E6F6-5AEC-A878DDE27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EFDAC631-A1D3-6140-E10F-83087B1F2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7264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4EC63-7B37-7EFA-7CE0-8413C94E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831D38DF-2448-915E-7BE8-66D78A42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713A691-E37A-39A3-4D01-CAD136333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 err="1"/>
              <a:t>Goroutines</a:t>
            </a:r>
            <a:r>
              <a:rPr lang="de-CH" sz="4700" dirty="0"/>
              <a:t>, Channels &amp; Select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F4601BE0-FF47-B0B2-3653-E88BA1E20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512EA9D7-D0B9-4E50-313E-6BD74BDF31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3775EAE7-864B-0F62-C4AA-A5C4EFAC1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15E5EAB7-8EBE-575A-CA68-8972F6EC9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2902BD6-7D98-360A-E393-07E3B99CB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47C74357-8683-B3B8-AD1D-9525C1764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08300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C4687C-7204-CDF3-E31B-4387A5A7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0ED8E0E3-00EA-D6CE-1CDF-4F03C9304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2FF6B84-E132-9631-8823-4A0C0AB0E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The Go Memory Model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9866ACD-24EF-9BF5-708D-1A2BE59F6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356D4D09-0A62-C578-31C8-6490AB21D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6CC6DA3-5FE1-0D98-CBB3-23C1342A68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63F51AB2-8B75-56E4-60B0-8225306DE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D48DE8D-79EE-50B0-A724-99E56B89D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61D851C7-EFE6-B7EF-CF75-495E7CF34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7927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6542E-A0F2-CF3A-8DCF-AA345B487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7E0432D-2372-26E1-8A9D-25B6814183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08CE95F-AE65-D8EC-F23D-934B4E145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Package Management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1B9A024-F1E0-E564-35DB-8CB510A4AC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F9048DAC-3800-38D6-6981-FA049821D0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7ADC7C1-EEEA-28B9-E59C-1582348DA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60F47030-A33E-9D89-5124-0DB35C7A0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F52825F-B353-36E7-8AF0-5766184A8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4989EA65-D404-F6E7-764D-B702F04AEB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48784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5A0B3C-2B57-E91E-F3BA-19BF2440C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9" name="Rectangle 206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23658E-7FD5-4079-8FF2-16AFFFC9F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de-CH" sz="7000"/>
              <a:t>Code Demo</a:t>
            </a:r>
          </a:p>
        </p:txBody>
      </p:sp>
      <p:cxnSp>
        <p:nvCxnSpPr>
          <p:cNvPr id="2071" name="Straight Connector 207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B3EF7DC-8DEE-0853-E693-527A0202BB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065" name="Inhaltsplatzhalter 3">
            <a:extLst>
              <a:ext uri="{FF2B5EF4-FFF2-40B4-BE49-F238E27FC236}">
                <a16:creationId xmlns:a16="http://schemas.microsoft.com/office/drawing/2014/main" id="{1D7AAF61-4BC4-FC14-2449-96323EB5EE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3972904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30932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9EA1F4-9D87-34AF-C2B5-53FED5FB2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92ABB01C-D47A-4F01-4CEF-1328AF5D8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4356D2-B029-483A-D6B6-1D95BF36E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Fazit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1C4C149-1D8A-2C67-27D3-C1873DFB7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D2346873-4E1C-DED5-E17F-83BBE1C3D6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58008859-8438-FA11-363B-7A0B59794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8BB04E9-212C-0F8C-B1F6-E5BA12CC2E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33DD694-97A2-E256-E66E-EA45E415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50346E0C-E72B-8D18-AA47-C8FA29C42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43652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EB5906-1E92-BB26-0BFF-DD89CA7A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D5E870-DC36-FA00-1A05-22B30245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de-CH" sz="4700" dirty="0"/>
              <a:t>Persönliches Fazit </a:t>
            </a:r>
            <a:r>
              <a:rPr lang="de-CH" sz="4700" dirty="0" err="1"/>
              <a:t>Nevilan</a:t>
            </a:r>
            <a:endParaRPr lang="de-CH" sz="470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8865A8F-F0F0-704E-9665-D65342E3A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Pro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AEC164-A65A-F030-E1D6-617BB6AD1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H" dirty="0"/>
              <a:t>Contra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D60C277-CA40-15A3-9478-F60F666B1FA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CH"/>
              <a:t>Keine Features wie map, filter in der nativen Syntax macht den Code langatmig</a:t>
            </a:r>
            <a:endParaRPr lang="en-CH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57A744A8-0D49-4338-1782-7EADF4FCC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E5FCBCC9-8DB1-9133-24B1-C4870492C0A7}"/>
              </a:ext>
            </a:extLst>
          </p:cNvPr>
          <p:cNvSpPr txBox="1">
            <a:spLocks/>
          </p:cNvSpPr>
          <p:nvPr/>
        </p:nvSpPr>
        <p:spPr>
          <a:xfrm>
            <a:off x="455613" y="2292350"/>
            <a:ext cx="4041775" cy="3951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dirty="0"/>
              <a:t>Minimalismus und Schnelligkeit</a:t>
            </a:r>
          </a:p>
          <a:p>
            <a:r>
              <a:rPr lang="de-CH" dirty="0" err="1"/>
              <a:t>Concurrency</a:t>
            </a:r>
            <a:r>
              <a:rPr lang="de-CH" dirty="0"/>
              <a:t> leicht gemacht</a:t>
            </a:r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55087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90EDFD-B28B-5272-0532-8D073B91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E38F5F5E-7A82-32D1-EEFA-F35009F56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3230361-872A-38C3-4D7B-1E3962B33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Persönliches Fazit Bleron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F33F738D-B71C-F962-C74D-502C0EC9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A940AD7D-172E-782D-08BF-84820DAF6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DE7D3D0-EEC4-DEA6-B789-49E54D3A1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EB2B408-520C-B8BF-1E5C-7414569A4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5B1B9E-3F8D-A5C7-E0DC-66EDAB43BD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06A50467-B60F-716C-3036-064634E498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534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76F2AD-458E-621C-D2D2-4959D0CD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82" name="Rectangle 2081">
            <a:extLst>
              <a:ext uri="{FF2B5EF4-FFF2-40B4-BE49-F238E27FC236}">
                <a16:creationId xmlns:a16="http://schemas.microsoft.com/office/drawing/2014/main" id="{521C4EA8-6B83-4338-913D-D75D3C4F3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5AD8C1C-FD43-F0CE-71A1-579FFD5CF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122" y="679731"/>
            <a:ext cx="2343114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000"/>
              <a:t>Fragen</a:t>
            </a:r>
          </a:p>
        </p:txBody>
      </p:sp>
      <p:grpSp>
        <p:nvGrpSpPr>
          <p:cNvPr id="2084" name="Group 2083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062324" y="1"/>
            <a:ext cx="1834788" cy="5777808"/>
            <a:chOff x="329184" y="1"/>
            <a:chExt cx="524256" cy="5777808"/>
          </a:xfrm>
        </p:grpSpPr>
        <p:cxnSp>
          <p:nvCxnSpPr>
            <p:cNvPr id="2085" name="Straight Connector 2084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6" name="Rectangle 2085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88" name="Rectangle 208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5813" y="679731"/>
            <a:ext cx="5761719" cy="56628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3B209BDC-7C77-93A9-0A8E-B393649290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93810" y="1939877"/>
            <a:ext cx="2537460" cy="3112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7" name="Graphic 2066" descr="Help">
            <a:extLst>
              <a:ext uri="{FF2B5EF4-FFF2-40B4-BE49-F238E27FC236}">
                <a16:creationId xmlns:a16="http://schemas.microsoft.com/office/drawing/2014/main" id="{655F1595-20F6-6748-9D46-F16DAB2962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9267" y="2227372"/>
            <a:ext cx="2537460" cy="253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096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416</Words>
  <Application>Microsoft Macintosh PowerPoint</Application>
  <PresentationFormat>On-screen Show (4:3)</PresentationFormat>
  <Paragraphs>125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Wingdings</vt:lpstr>
      <vt:lpstr>Office Theme</vt:lpstr>
      <vt:lpstr>PowerPoint Presentation</vt:lpstr>
      <vt:lpstr>Vision</vt:lpstr>
      <vt:lpstr>Geschichte</vt:lpstr>
      <vt:lpstr>Verbreitung</vt:lpstr>
      <vt:lpstr>Generelle Informationen über GO</vt:lpstr>
      <vt:lpstr>Slices</vt:lpstr>
      <vt:lpstr>Slices</vt:lpstr>
      <vt:lpstr>Slices</vt:lpstr>
      <vt:lpstr>Maps &amp; Slices</vt:lpstr>
      <vt:lpstr>Maps &amp; Slices</vt:lpstr>
      <vt:lpstr>Defer</vt:lpstr>
      <vt:lpstr>Defer</vt:lpstr>
      <vt:lpstr>Structural &amp; Nominal Typing</vt:lpstr>
      <vt:lpstr>Goroutines, Channels &amp; Select</vt:lpstr>
      <vt:lpstr>The Go Memory Model</vt:lpstr>
      <vt:lpstr>Package Management</vt:lpstr>
      <vt:lpstr>Code Demo</vt:lpstr>
      <vt:lpstr>Fazit</vt:lpstr>
      <vt:lpstr>Persönliches Fazit Nevilan</vt:lpstr>
      <vt:lpstr>Persönliches Fazit Bleron</vt:lpstr>
      <vt:lpstr>Fragen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Hajdini Bleron</dc:creator>
  <cp:keywords/>
  <dc:description>generated using python-pptx</dc:description>
  <cp:lastModifiedBy>Sabanathan Nevilan, SCS-INI-MBM-MTE</cp:lastModifiedBy>
  <cp:revision>8</cp:revision>
  <dcterms:created xsi:type="dcterms:W3CDTF">2013-01-27T09:14:16Z</dcterms:created>
  <dcterms:modified xsi:type="dcterms:W3CDTF">2026-05-17T18:06:43Z</dcterms:modified>
  <cp:category/>
</cp:coreProperties>
</file>